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63" r:id="rId2"/>
    <p:sldId id="318" r:id="rId3"/>
    <p:sldId id="319" r:id="rId4"/>
    <p:sldId id="270" r:id="rId5"/>
    <p:sldId id="309" r:id="rId6"/>
    <p:sldId id="271" r:id="rId7"/>
    <p:sldId id="282" r:id="rId8"/>
    <p:sldId id="310" r:id="rId9"/>
    <p:sldId id="311" r:id="rId10"/>
    <p:sldId id="312" r:id="rId11"/>
    <p:sldId id="256" r:id="rId12"/>
    <p:sldId id="257" r:id="rId13"/>
    <p:sldId id="258" r:id="rId14"/>
    <p:sldId id="259" r:id="rId15"/>
    <p:sldId id="285" r:id="rId16"/>
    <p:sldId id="262" r:id="rId17"/>
    <p:sldId id="313" r:id="rId18"/>
    <p:sldId id="289" r:id="rId19"/>
    <p:sldId id="314" r:id="rId20"/>
    <p:sldId id="315" r:id="rId21"/>
    <p:sldId id="316" r:id="rId22"/>
    <p:sldId id="317" r:id="rId23"/>
    <p:sldId id="296" r:id="rId2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D839FBE2-2E97-4208-9DE4-792385508683}">
          <p14:sldIdLst>
            <p14:sldId id="263"/>
            <p14:sldId id="318"/>
            <p14:sldId id="319"/>
            <p14:sldId id="270"/>
            <p14:sldId id="309"/>
            <p14:sldId id="271"/>
            <p14:sldId id="282"/>
            <p14:sldId id="310"/>
            <p14:sldId id="311"/>
            <p14:sldId id="312"/>
          </p14:sldIdLst>
        </p14:section>
        <p14:section name="peda" id="{74B73141-FCA1-4B00-95B2-2CBBDD4AC6AC}">
          <p14:sldIdLst>
            <p14:sldId id="256"/>
            <p14:sldId id="257"/>
            <p14:sldId id="258"/>
            <p14:sldId id="259"/>
            <p14:sldId id="285"/>
            <p14:sldId id="262"/>
            <p14:sldId id="313"/>
            <p14:sldId id="289"/>
            <p14:sldId id="314"/>
            <p14:sldId id="315"/>
            <p14:sldId id="316"/>
            <p14:sldId id="317"/>
            <p14:sldId id="2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195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B70DDC-6FE1-4F94-AE55-B6C451D99F2A}" type="datetimeFigureOut">
              <a:rPr lang="fr-FR" smtClean="0"/>
              <a:t>03/06/2026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D2A4B7-87CB-49AB-ACC5-0CB61FDA4D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7943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71A116-FE10-D19A-8E9A-CA05559168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9ACA400-F6D8-0E9E-0F61-2DCA95EAB6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2C7502B-BAB5-D5CB-765E-2503BECEF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AAAB-A060-497E-BE3C-A267C4CACB19}" type="datetime1">
              <a:rPr lang="fr-FR" smtClean="0"/>
              <a:t>03/06/2026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47796EA-5CCC-CBBF-6A2B-E8A6DAA3A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FD34C9-EE88-27D1-C0E3-AD0AC0DF5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8494"/>
            <a:ext cx="2743200" cy="365125"/>
          </a:xfrm>
        </p:spPr>
        <p:txBody>
          <a:bodyPr/>
          <a:lstStyle/>
          <a:p>
            <a:fld id="{10CC0205-AF05-4B33-965E-90BF431DF3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3028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01777D-F5FF-82DC-9BA8-CB9FB83B0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06CB71-04C6-0321-DA7C-BA8F03482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43A1B8-0F41-3A57-1E94-25BBE5596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CC502-05FE-44FC-A66D-2DDD3DCB22F8}" type="datetime1">
              <a:rPr lang="fr-FR" smtClean="0"/>
              <a:t>03/06/2026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FEB980E-5E97-6EB7-295F-01D8E7F2E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22BDC923-22A7-F601-D752-2A4E6292E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8494"/>
            <a:ext cx="2743200" cy="365125"/>
          </a:xfrm>
        </p:spPr>
        <p:txBody>
          <a:bodyPr/>
          <a:lstStyle/>
          <a:p>
            <a:fld id="{10CC0205-AF05-4B33-965E-90BF431DF3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6676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B11347-4770-673E-DA3B-A8A6E5C63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2E34259-59BD-986E-25C6-418392385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F6798A8-D4CB-AC00-984A-997F1F530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FD656-C4C7-4F1F-8CE7-CA04E261DC1C}" type="datetime1">
              <a:rPr lang="fr-FR" smtClean="0"/>
              <a:t>03/06/2026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46F74A-A057-270D-DA85-781B4848F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1BC51A30-6BAD-37F2-8410-E0CE8B488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8494"/>
            <a:ext cx="2743200" cy="365125"/>
          </a:xfrm>
        </p:spPr>
        <p:txBody>
          <a:bodyPr/>
          <a:lstStyle/>
          <a:p>
            <a:fld id="{10CC0205-AF05-4B33-965E-90BF431DF3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9172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A130BA-7C46-1B34-04E5-F349B7BC4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425683-E448-6A4C-A6B7-5B54163D23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790D705-5563-BEED-E0F3-6D4E03477C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DF6AC6A-FA74-EC12-ED93-7BC8EC73F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F7F91-0949-4E1A-8FA0-24DB5AD05149}" type="datetime1">
              <a:rPr lang="fr-FR" smtClean="0"/>
              <a:t>03/06/2026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EE70FEC-2FBC-3F61-52E0-8F56511E3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1A7E7BA7-7EAE-E633-0A16-5B1C303D1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8494"/>
            <a:ext cx="2743200" cy="365125"/>
          </a:xfrm>
        </p:spPr>
        <p:txBody>
          <a:bodyPr/>
          <a:lstStyle/>
          <a:p>
            <a:fld id="{10CC0205-AF05-4B33-965E-90BF431DF3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0734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A1CF1B-6AE8-FF3E-425E-B591A96D7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A5D5815-3431-B4CA-0B20-23A654AA7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241C5BA-C87D-386D-F1AD-311344398C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88A81F7-416D-030F-87F1-551005385A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18DE50B-AF87-7AFF-56F5-5F7CDEFD0C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8157BCE-BAD4-6BC9-939D-195423216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8DD43-31B6-430A-990C-8FBC9D0882FD}" type="datetime1">
              <a:rPr lang="fr-FR" smtClean="0"/>
              <a:t>03/06/2026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571AC9B-BAE6-BF9C-ADC2-A7F8CAA94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9109D69C-C2DD-9B54-D45C-DE7A30AB6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8494"/>
            <a:ext cx="2743200" cy="365125"/>
          </a:xfrm>
        </p:spPr>
        <p:txBody>
          <a:bodyPr/>
          <a:lstStyle/>
          <a:p>
            <a:fld id="{10CC0205-AF05-4B33-965E-90BF431DF3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4703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1CC818-2198-0D25-A887-7D9EE838C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D75FCF2-5430-5695-4D28-31E578C2A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C49EF-1D40-4E1E-8E7E-87C6D6CEA00F}" type="datetime1">
              <a:rPr lang="fr-FR" smtClean="0"/>
              <a:t>03/06/2026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6E5AC87-40F3-9B91-E0FD-4F16294A2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3B2538-D5DC-53E1-04F8-674C138C8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8494"/>
            <a:ext cx="2743200" cy="365125"/>
          </a:xfrm>
        </p:spPr>
        <p:txBody>
          <a:bodyPr/>
          <a:lstStyle/>
          <a:p>
            <a:fld id="{10CC0205-AF05-4B33-965E-90BF431DF3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3741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5EFBC90-424C-0151-4CF7-71B63F435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9844F-0770-4457-BF95-0D68EEA6390D}" type="datetime1">
              <a:rPr lang="fr-FR" smtClean="0"/>
              <a:t>03/06/2026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8DCC4B4-0136-282B-AF50-6EF305C4A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95FDB2BD-A2CD-B9A3-C849-AB2C5DA42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8494"/>
            <a:ext cx="2743200" cy="365125"/>
          </a:xfrm>
        </p:spPr>
        <p:txBody>
          <a:bodyPr/>
          <a:lstStyle/>
          <a:p>
            <a:fld id="{10CC0205-AF05-4B33-965E-90BF431DF3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5809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A241D7-9986-E02B-5F7E-9DE8663D0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8793B1-42F0-D61E-DDC3-42C6F1FAF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EEA3F3A-EF93-A8AC-E872-BE8E96AC8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C5DFD48-E145-080D-884D-04600703C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B73BD-833A-4FFA-B4A9-34FEDA861992}" type="datetime1">
              <a:rPr lang="fr-FR" smtClean="0"/>
              <a:t>03/06/2026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CD53261-44A1-2732-D70B-3F989A7F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88609643-C3DB-E89D-37D1-E35057CBB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8494"/>
            <a:ext cx="2743200" cy="365125"/>
          </a:xfrm>
        </p:spPr>
        <p:txBody>
          <a:bodyPr/>
          <a:lstStyle/>
          <a:p>
            <a:fld id="{10CC0205-AF05-4B33-965E-90BF431DF3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0499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12C7D1-5E36-4C16-745E-BCD354690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D8A2EDE-A1F6-4047-2009-6BE5ECAE68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73EFEF4-5DD5-E9AD-6B2C-0B8B1E082B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1701125-15A0-8E66-DA97-37C446F8B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EF12C-EB77-444F-AEA3-5D6B8ED5EB5B}" type="datetime1">
              <a:rPr lang="fr-FR" smtClean="0"/>
              <a:t>03/06/2026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8190EE5-2727-208B-260A-63712C61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22189D3B-1381-3278-25DA-A41F662FE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8494"/>
            <a:ext cx="2743200" cy="365125"/>
          </a:xfrm>
        </p:spPr>
        <p:txBody>
          <a:bodyPr/>
          <a:lstStyle/>
          <a:p>
            <a:fld id="{10CC0205-AF05-4B33-965E-90BF431DF3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4058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3D1AB3-3390-3177-F688-618FEC148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4973F57-4461-A3CF-8B96-E62FE78E35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19984E0-78D5-2469-22CF-F1E8E6CC9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90169-8030-4E78-A1C3-BAD38CE2FEAA}" type="datetime1">
              <a:rPr lang="fr-FR" smtClean="0"/>
              <a:t>03/06/2026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E7B38E-9D81-89A7-27C5-422D1263F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29EA1871-1C4F-3E8D-3F01-B891C5BAF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8494"/>
            <a:ext cx="2743200" cy="365125"/>
          </a:xfrm>
        </p:spPr>
        <p:txBody>
          <a:bodyPr/>
          <a:lstStyle/>
          <a:p>
            <a:fld id="{10CC0205-AF05-4B33-965E-90BF431DF3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5633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BA25E3E-1C61-DC34-5880-B22E511D93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CD68DF0-D884-F22A-9AD2-3E8AA3D521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1B660C-9D70-565E-7007-BB69AC782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0E798-F8D5-42BF-8E5E-FB3F6A551F9B}" type="datetime1">
              <a:rPr lang="fr-FR" smtClean="0"/>
              <a:t>03/06/2026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0F68EA9-38B3-3A5D-A24A-95FC59A22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F326BAC1-E847-8F0E-033C-61D76AA61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8494"/>
            <a:ext cx="2743200" cy="365125"/>
          </a:xfrm>
        </p:spPr>
        <p:txBody>
          <a:bodyPr/>
          <a:lstStyle/>
          <a:p>
            <a:fld id="{10CC0205-AF05-4B33-965E-90BF431DF3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7899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E21EF32-984E-8A3E-E0DE-97E9EE592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9B5491E-571D-177E-4BB9-12F1776EE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4E8040B-960C-8AB4-5EE8-36382716D2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BCF328-A12D-4B92-8D3E-19A4A36E4B51}" type="datetime1">
              <a:rPr lang="fr-FR" smtClean="0"/>
              <a:t>03/06/2026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CFAA8A-07EE-6CAE-FF80-B702D20AAA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8A2F1A-83E9-8E38-7336-85837D23E7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CC0205-AF05-4B33-965E-90BF431DF3FA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95052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9776A9-488B-8C9E-C47B-D4AFD7CB4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1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A330F9B-89EC-F952-4617-729EEA195851}"/>
              </a:ext>
            </a:extLst>
          </p:cNvPr>
          <p:cNvSpPr txBox="1"/>
          <p:nvPr/>
        </p:nvSpPr>
        <p:spPr>
          <a:xfrm>
            <a:off x="253318" y="6075144"/>
            <a:ext cx="274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Prénom NOM</a:t>
            </a:r>
            <a:endParaRPr lang="fr-FR" dirty="0"/>
          </a:p>
          <a:p>
            <a:r>
              <a:rPr lang="fr-FR" dirty="0"/>
              <a:t>Candidat n° : 123456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CD1502F-A5A7-4D67-69BF-69B130EC8358}"/>
              </a:ext>
            </a:extLst>
          </p:cNvPr>
          <p:cNvSpPr txBox="1"/>
          <p:nvPr/>
        </p:nvSpPr>
        <p:spPr>
          <a:xfrm>
            <a:off x="765330" y="2188029"/>
            <a:ext cx="1059649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800" dirty="0"/>
              <a:t>Oral de l’agrégation externe de Sciences Industrielles de l’Ingénieur </a:t>
            </a:r>
          </a:p>
          <a:p>
            <a:pPr algn="ctr"/>
            <a:r>
              <a:rPr lang="fr-FR" sz="2800" dirty="0"/>
              <a:t>option Ingénierie Industrielle</a:t>
            </a:r>
          </a:p>
        </p:txBody>
      </p:sp>
    </p:spTree>
    <p:extLst>
      <p:ext uri="{BB962C8B-B14F-4D97-AF65-F5344CB8AC3E}">
        <p14:creationId xmlns:p14="http://schemas.microsoft.com/office/powerpoint/2010/main" val="3086057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EAD798-A1F3-4DE0-17F1-BBE423015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E7C2A6-2968-774F-AF5D-4739632AA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D98B5EF-E46E-4AAF-6E7E-7F9949DBA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0524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BF0C9F-479C-CA8F-0679-6F9E84546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DD47C2-3F21-2F6D-F73C-4AF0C6B7B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9B06778-455C-BA4F-CBF3-D85557032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9283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486B4A-36BD-8DB7-DC68-98542670D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Maquette : Matériel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229057A-C66F-F074-B448-114587999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CC0205-AF05-4B33-965E-90BF431DF3FA}" type="slidenum">
              <a:rPr lang="fr-FR" smtClean="0"/>
              <a:t>4</a:t>
            </a:fld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2A96C06-862C-6B14-A8F1-935C96533C9D}"/>
              </a:ext>
            </a:extLst>
          </p:cNvPr>
          <p:cNvSpPr txBox="1"/>
          <p:nvPr/>
        </p:nvSpPr>
        <p:spPr>
          <a:xfrm>
            <a:off x="1915951" y="5516690"/>
            <a:ext cx="2043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Robot instrumenté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5B2B475-DC7C-E8E1-512C-DBF871CD58EE}"/>
              </a:ext>
            </a:extLst>
          </p:cNvPr>
          <p:cNvSpPr txBox="1"/>
          <p:nvPr/>
        </p:nvSpPr>
        <p:spPr>
          <a:xfrm>
            <a:off x="2124808" y="4875302"/>
            <a:ext cx="1305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Deux roues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B7B765-4B02-4EEC-9EE1-765C2D080581}"/>
              </a:ext>
            </a:extLst>
          </p:cNvPr>
          <p:cNvSpPr txBox="1"/>
          <p:nvPr/>
        </p:nvSpPr>
        <p:spPr>
          <a:xfrm>
            <a:off x="804669" y="3831876"/>
            <a:ext cx="1553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Moteurs MCC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C05966C-8298-425A-7839-0DCDB3800772}"/>
              </a:ext>
            </a:extLst>
          </p:cNvPr>
          <p:cNvSpPr txBox="1"/>
          <p:nvPr/>
        </p:nvSpPr>
        <p:spPr>
          <a:xfrm>
            <a:off x="515558" y="2236962"/>
            <a:ext cx="1162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Bluetooth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1165A451-4292-629C-30BC-830FD9D52BF1}"/>
              </a:ext>
            </a:extLst>
          </p:cNvPr>
          <p:cNvSpPr txBox="1"/>
          <p:nvPr/>
        </p:nvSpPr>
        <p:spPr>
          <a:xfrm>
            <a:off x="3111625" y="3603689"/>
            <a:ext cx="2114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Capteur de contact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76186584-5A06-6134-BBD9-44677C789988}"/>
              </a:ext>
            </a:extLst>
          </p:cNvPr>
          <p:cNvSpPr txBox="1"/>
          <p:nvPr/>
        </p:nvSpPr>
        <p:spPr>
          <a:xfrm>
            <a:off x="3111625" y="2421628"/>
            <a:ext cx="2037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Capteur à ultrason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BD3DC853-534B-4CD6-8E8A-008D3FE83C97}"/>
              </a:ext>
            </a:extLst>
          </p:cNvPr>
          <p:cNvSpPr txBox="1"/>
          <p:nvPr/>
        </p:nvSpPr>
        <p:spPr>
          <a:xfrm>
            <a:off x="8262785" y="3603689"/>
            <a:ext cx="1204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Raspberry</a:t>
            </a:r>
          </a:p>
        </p:txBody>
      </p:sp>
    </p:spTree>
    <p:extLst>
      <p:ext uri="{BB962C8B-B14F-4D97-AF65-F5344CB8AC3E}">
        <p14:creationId xmlns:p14="http://schemas.microsoft.com/office/powerpoint/2010/main" val="4263428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73FA4-2454-BDC7-91DA-6BEDA1DF5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687D8A-D646-E8EF-1C81-7B03E422C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Maquette : Réseau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CA26AAB-7594-63A5-1640-DF265F534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1218" y="6402920"/>
            <a:ext cx="2743200" cy="365125"/>
          </a:xfrm>
        </p:spPr>
        <p:txBody>
          <a:bodyPr/>
          <a:lstStyle/>
          <a:p>
            <a:fld id="{10CC0205-AF05-4B33-965E-90BF431DF3FA}" type="slidenum">
              <a:rPr lang="fr-FR" smtClean="0"/>
              <a:t>5</a:t>
            </a:fld>
            <a:endParaRPr lang="fr-FR"/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9B13045E-D637-B356-219F-AC765CBC0226}"/>
              </a:ext>
            </a:extLst>
          </p:cNvPr>
          <p:cNvGrpSpPr/>
          <p:nvPr/>
        </p:nvGrpSpPr>
        <p:grpSpPr>
          <a:xfrm>
            <a:off x="2718845" y="3095826"/>
            <a:ext cx="960584" cy="848225"/>
            <a:chOff x="4663974" y="2580775"/>
            <a:chExt cx="960584" cy="848225"/>
          </a:xfrm>
        </p:grpSpPr>
        <p:sp>
          <p:nvSpPr>
            <p:cNvPr id="3" name="ZoneTexte 2">
              <a:extLst>
                <a:ext uri="{FF2B5EF4-FFF2-40B4-BE49-F238E27FC236}">
                  <a16:creationId xmlns:a16="http://schemas.microsoft.com/office/drawing/2014/main" id="{850778AB-E67E-0EBD-40E9-3D26ED94A99B}"/>
                </a:ext>
              </a:extLst>
            </p:cNvPr>
            <p:cNvSpPr txBox="1"/>
            <p:nvPr/>
          </p:nvSpPr>
          <p:spPr>
            <a:xfrm>
              <a:off x="4714789" y="2891658"/>
              <a:ext cx="8589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Switch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BE5555A-815A-0F91-EEAD-AFAF0F37C25E}"/>
                </a:ext>
              </a:extLst>
            </p:cNvPr>
            <p:cNvSpPr/>
            <p:nvPr/>
          </p:nvSpPr>
          <p:spPr>
            <a:xfrm>
              <a:off x="4663974" y="2580775"/>
              <a:ext cx="960584" cy="8482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848387E2-9372-691E-C651-FC2C07344943}"/>
              </a:ext>
            </a:extLst>
          </p:cNvPr>
          <p:cNvGrpSpPr/>
          <p:nvPr/>
        </p:nvGrpSpPr>
        <p:grpSpPr>
          <a:xfrm>
            <a:off x="8712234" y="4237139"/>
            <a:ext cx="960584" cy="848225"/>
            <a:chOff x="2319358" y="3966411"/>
            <a:chExt cx="960584" cy="848225"/>
          </a:xfrm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2D040908-AD34-C32E-59D1-59117A108C82}"/>
                </a:ext>
              </a:extLst>
            </p:cNvPr>
            <p:cNvSpPr txBox="1"/>
            <p:nvPr/>
          </p:nvSpPr>
          <p:spPr>
            <a:xfrm>
              <a:off x="2319358" y="4205857"/>
              <a:ext cx="9605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Arduino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6B9817C-5DF9-42F2-6150-530E977C6CFC}"/>
                </a:ext>
              </a:extLst>
            </p:cNvPr>
            <p:cNvSpPr/>
            <p:nvPr/>
          </p:nvSpPr>
          <p:spPr>
            <a:xfrm>
              <a:off x="2319358" y="3966411"/>
              <a:ext cx="960584" cy="8482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B479CB65-2603-279E-F870-AEC6C7C88751}"/>
              </a:ext>
            </a:extLst>
          </p:cNvPr>
          <p:cNvGrpSpPr/>
          <p:nvPr/>
        </p:nvGrpSpPr>
        <p:grpSpPr>
          <a:xfrm>
            <a:off x="7344560" y="2020312"/>
            <a:ext cx="1260345" cy="1063324"/>
            <a:chOff x="8235072" y="2652211"/>
            <a:chExt cx="1260345" cy="1063324"/>
          </a:xfrm>
        </p:grpSpPr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D0D3A75F-AF61-17EF-0D5A-8749617AE59B}"/>
                </a:ext>
              </a:extLst>
            </p:cNvPr>
            <p:cNvSpPr txBox="1"/>
            <p:nvPr/>
          </p:nvSpPr>
          <p:spPr>
            <a:xfrm>
              <a:off x="8235072" y="2991304"/>
              <a:ext cx="12603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Ordinateur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BEF0D2B-8D36-CC49-2B70-16B1F7265221}"/>
                </a:ext>
              </a:extLst>
            </p:cNvPr>
            <p:cNvSpPr/>
            <p:nvPr/>
          </p:nvSpPr>
          <p:spPr>
            <a:xfrm>
              <a:off x="8291241" y="2652211"/>
              <a:ext cx="1204176" cy="106332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74FDC1C1-23DD-2D34-265B-EB198B45441D}"/>
              </a:ext>
            </a:extLst>
          </p:cNvPr>
          <p:cNvGrpSpPr/>
          <p:nvPr/>
        </p:nvGrpSpPr>
        <p:grpSpPr>
          <a:xfrm>
            <a:off x="4404797" y="4476585"/>
            <a:ext cx="1233094" cy="1063324"/>
            <a:chOff x="6269418" y="3674195"/>
            <a:chExt cx="1233094" cy="1063324"/>
          </a:xfrm>
        </p:grpSpPr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6651CC70-6834-8C27-BBAE-431189F263E4}"/>
                </a:ext>
              </a:extLst>
            </p:cNvPr>
            <p:cNvSpPr txBox="1"/>
            <p:nvPr/>
          </p:nvSpPr>
          <p:spPr>
            <a:xfrm>
              <a:off x="6298336" y="4102717"/>
              <a:ext cx="12041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Raspberry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15AFCA5-F210-2AAE-A4F0-9D8F40706177}"/>
                </a:ext>
              </a:extLst>
            </p:cNvPr>
            <p:cNvSpPr/>
            <p:nvPr/>
          </p:nvSpPr>
          <p:spPr>
            <a:xfrm>
              <a:off x="6269418" y="3674195"/>
              <a:ext cx="1204176" cy="106332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317805C1-9722-122E-BACA-5AFB6A015771}"/>
              </a:ext>
            </a:extLst>
          </p:cNvPr>
          <p:cNvCxnSpPr>
            <a:cxnSpLocks/>
            <a:stCxn id="9" idx="3"/>
            <a:endCxn id="16" idx="1"/>
          </p:cNvCxnSpPr>
          <p:nvPr/>
        </p:nvCxnSpPr>
        <p:spPr>
          <a:xfrm flipV="1">
            <a:off x="3679429" y="2551974"/>
            <a:ext cx="3721300" cy="9679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3550D46B-9A1F-C15B-6F97-3396E3239E49}"/>
              </a:ext>
            </a:extLst>
          </p:cNvPr>
          <p:cNvCxnSpPr>
            <a:cxnSpLocks/>
            <a:stCxn id="16" idx="3"/>
            <a:endCxn id="15" idx="0"/>
          </p:cNvCxnSpPr>
          <p:nvPr/>
        </p:nvCxnSpPr>
        <p:spPr>
          <a:xfrm>
            <a:off x="8604905" y="2551974"/>
            <a:ext cx="587621" cy="16851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7D545A45-1C30-0FD4-0D9E-D0E597BB33E7}"/>
              </a:ext>
            </a:extLst>
          </p:cNvPr>
          <p:cNvCxnSpPr>
            <a:cxnSpLocks/>
            <a:stCxn id="9" idx="2"/>
            <a:endCxn id="17" idx="1"/>
          </p:cNvCxnSpPr>
          <p:nvPr/>
        </p:nvCxnSpPr>
        <p:spPr>
          <a:xfrm>
            <a:off x="3199137" y="3944051"/>
            <a:ext cx="1205660" cy="10641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93517B8B-4A23-008A-7FE2-852263A9856B}"/>
              </a:ext>
            </a:extLst>
          </p:cNvPr>
          <p:cNvCxnSpPr>
            <a:cxnSpLocks/>
          </p:cNvCxnSpPr>
          <p:nvPr/>
        </p:nvCxnSpPr>
        <p:spPr>
          <a:xfrm>
            <a:off x="1492966" y="2310035"/>
            <a:ext cx="1248610" cy="12166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FA7D5B48-29F9-BBB9-4B2C-7860D4FEA893}"/>
              </a:ext>
            </a:extLst>
          </p:cNvPr>
          <p:cNvCxnSpPr>
            <a:cxnSpLocks/>
            <a:stCxn id="17" idx="3"/>
            <a:endCxn id="15" idx="1"/>
          </p:cNvCxnSpPr>
          <p:nvPr/>
        </p:nvCxnSpPr>
        <p:spPr>
          <a:xfrm flipV="1">
            <a:off x="5608973" y="4661252"/>
            <a:ext cx="3103261" cy="3469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ZoneTexte 36">
            <a:extLst>
              <a:ext uri="{FF2B5EF4-FFF2-40B4-BE49-F238E27FC236}">
                <a16:creationId xmlns:a16="http://schemas.microsoft.com/office/drawing/2014/main" id="{EB506BF9-7CBB-4F66-650B-0416A7D075A7}"/>
              </a:ext>
            </a:extLst>
          </p:cNvPr>
          <p:cNvSpPr txBox="1"/>
          <p:nvPr/>
        </p:nvSpPr>
        <p:spPr>
          <a:xfrm>
            <a:off x="9123319" y="3144086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Ethernet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A36FE911-A100-A4A1-BF74-6773E006F67B}"/>
              </a:ext>
            </a:extLst>
          </p:cNvPr>
          <p:cNvSpPr txBox="1"/>
          <p:nvPr/>
        </p:nvSpPr>
        <p:spPr>
          <a:xfrm>
            <a:off x="4781944" y="2544071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Ethernet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511B9DD7-D77B-5C45-2790-91E81068B211}"/>
              </a:ext>
            </a:extLst>
          </p:cNvPr>
          <p:cNvSpPr txBox="1"/>
          <p:nvPr/>
        </p:nvSpPr>
        <p:spPr>
          <a:xfrm>
            <a:off x="2680404" y="4547965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Ethernet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1D82C818-2AE2-228A-5A4E-307B4EDDD51A}"/>
              </a:ext>
            </a:extLst>
          </p:cNvPr>
          <p:cNvSpPr txBox="1"/>
          <p:nvPr/>
        </p:nvSpPr>
        <p:spPr>
          <a:xfrm>
            <a:off x="781316" y="2852336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Ethernet</a:t>
            </a:r>
          </a:p>
        </p:txBody>
      </p:sp>
      <p:grpSp>
        <p:nvGrpSpPr>
          <p:cNvPr id="41" name="Groupe 40">
            <a:extLst>
              <a:ext uri="{FF2B5EF4-FFF2-40B4-BE49-F238E27FC236}">
                <a16:creationId xmlns:a16="http://schemas.microsoft.com/office/drawing/2014/main" id="{5B7C237B-CCD1-DE35-DCFD-FA74025CBC10}"/>
              </a:ext>
            </a:extLst>
          </p:cNvPr>
          <p:cNvGrpSpPr/>
          <p:nvPr/>
        </p:nvGrpSpPr>
        <p:grpSpPr>
          <a:xfrm>
            <a:off x="525585" y="1475278"/>
            <a:ext cx="967382" cy="848225"/>
            <a:chOff x="4657176" y="2580775"/>
            <a:chExt cx="967382" cy="848225"/>
          </a:xfrm>
        </p:grpSpPr>
        <p:sp>
          <p:nvSpPr>
            <p:cNvPr id="42" name="ZoneTexte 41">
              <a:extLst>
                <a:ext uri="{FF2B5EF4-FFF2-40B4-BE49-F238E27FC236}">
                  <a16:creationId xmlns:a16="http://schemas.microsoft.com/office/drawing/2014/main" id="{D9B3B1BC-EC53-CCE8-78DD-103569975CFB}"/>
                </a:ext>
              </a:extLst>
            </p:cNvPr>
            <p:cNvSpPr txBox="1"/>
            <p:nvPr/>
          </p:nvSpPr>
          <p:spPr>
            <a:xfrm>
              <a:off x="4657176" y="2853544"/>
              <a:ext cx="9673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Internet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610F76E-533A-A369-4C11-BCF8A36F6B13}"/>
                </a:ext>
              </a:extLst>
            </p:cNvPr>
            <p:cNvSpPr/>
            <p:nvPr/>
          </p:nvSpPr>
          <p:spPr>
            <a:xfrm>
              <a:off x="4663974" y="2580775"/>
              <a:ext cx="960584" cy="8482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45" name="ZoneTexte 44">
            <a:extLst>
              <a:ext uri="{FF2B5EF4-FFF2-40B4-BE49-F238E27FC236}">
                <a16:creationId xmlns:a16="http://schemas.microsoft.com/office/drawing/2014/main" id="{11A33564-EB1B-3F06-D631-AF6246C360E7}"/>
              </a:ext>
            </a:extLst>
          </p:cNvPr>
          <p:cNvSpPr txBox="1"/>
          <p:nvPr/>
        </p:nvSpPr>
        <p:spPr>
          <a:xfrm>
            <a:off x="6935652" y="5097555"/>
            <a:ext cx="1162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Bluetooth</a:t>
            </a:r>
          </a:p>
        </p:txBody>
      </p:sp>
    </p:spTree>
    <p:extLst>
      <p:ext uri="{BB962C8B-B14F-4D97-AF65-F5344CB8AC3E}">
        <p14:creationId xmlns:p14="http://schemas.microsoft.com/office/powerpoint/2010/main" val="2529577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4940E6-2A2C-890F-4815-08EBB32DD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Logiciel :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7942867-CBF4-73ED-E684-84FB8F50F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CC0205-AF05-4B33-965E-90BF431DF3FA}" type="slidenum">
              <a:rPr lang="fr-FR" smtClean="0"/>
              <a:t>6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45D772C-DCB0-65F8-6669-AD95A7FD1FE7}"/>
              </a:ext>
            </a:extLst>
          </p:cNvPr>
          <p:cNvSpPr txBox="1"/>
          <p:nvPr/>
        </p:nvSpPr>
        <p:spPr>
          <a:xfrm>
            <a:off x="2745822" y="1690688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SSH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7266CE2-1D04-5EE7-AFCA-463E6FCF8C99}"/>
              </a:ext>
            </a:extLst>
          </p:cNvPr>
          <p:cNvSpPr txBox="1"/>
          <p:nvPr/>
        </p:nvSpPr>
        <p:spPr>
          <a:xfrm>
            <a:off x="8224044" y="1506022"/>
            <a:ext cx="1353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Arduino IDE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D93FE11-232C-CD53-8DD2-5BE5FF249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6043" y="2458163"/>
            <a:ext cx="5149319" cy="3130711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342B2A0E-DBC5-D094-5D57-505BD20F2D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5" r="-916" b="17576"/>
          <a:stretch>
            <a:fillRect/>
          </a:stretch>
        </p:blipFill>
        <p:spPr>
          <a:xfrm>
            <a:off x="1148777" y="2350498"/>
            <a:ext cx="3974207" cy="3238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130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61992B1-EDCE-6553-7C6D-71F220CA4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341977-CD2F-B7CB-2812-AEEE5A9DE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Travaux pratique : Communication Série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6469FBF-97B5-F5EC-C061-CC37F2641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CC0205-AF05-4B33-965E-90BF431DF3FA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5266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35FD7-F3E8-927F-5BD9-7C7954C50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02DDC8-5921-02F0-7A48-15880E795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Travaux pratique : hcitool </a:t>
            </a:r>
            <a:endParaRPr lang="fr-FR" b="1" u="sng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2BC54AD-18A4-A91C-1B18-C5CE0CD8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CC0205-AF05-4B33-965E-90BF431DF3FA}" type="slidenum">
              <a:rPr lang="fr-FR" smtClean="0"/>
              <a:t>8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FCD9E28-84A9-9BB2-E53C-FB89767A7F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057" y="2037541"/>
            <a:ext cx="4217744" cy="341541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436A69B-23BC-56A6-367D-35E0A5BCD6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21" t="6069" r="5943" b="35536"/>
          <a:stretch>
            <a:fillRect/>
          </a:stretch>
        </p:blipFill>
        <p:spPr>
          <a:xfrm>
            <a:off x="5363307" y="1840249"/>
            <a:ext cx="5990493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65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9ACB4-B934-71DF-1803-BD801EB57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FFDC93-CE08-2FE0-1609-A4613E61B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Travaux pratique : </a:t>
            </a:r>
            <a:r>
              <a:rPr lang="fr-FR" b="1" u="sng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bluepy</a:t>
            </a:r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082903E-2BEC-A69A-2C2D-E87D055AB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CC0205-AF05-4B33-965E-90BF431DF3FA}" type="slidenum">
              <a:rPr lang="fr-FR" smtClean="0"/>
              <a:t>9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8AEDCBD-EF79-41E5-D9EC-B34DCDAA83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933" y="1909395"/>
            <a:ext cx="5391883" cy="342083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DF3120C-1CDE-770C-5ABB-00BF9B0D02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671" b="31116"/>
          <a:stretch>
            <a:fillRect/>
          </a:stretch>
        </p:blipFill>
        <p:spPr>
          <a:xfrm>
            <a:off x="6096000" y="2091048"/>
            <a:ext cx="5718663" cy="305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491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713C4-FF4E-46E1-FC7D-C68E5AE90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5C1CF4-8A84-D418-8A11-41B09A84B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Travaux pratique : Communication avec le Robot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C71899F-7CAF-A320-11B6-BA9C0FE98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CC0205-AF05-4B33-965E-90BF431DF3FA}" type="slidenum">
              <a:rPr lang="fr-FR" smtClean="0"/>
              <a:t>10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1435C66-0606-E10E-6D4A-DF53B3E39B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638" y="3085000"/>
            <a:ext cx="4648200" cy="296227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7900D48-70C0-11BA-D4C3-1BB931750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711" y="2051539"/>
            <a:ext cx="2915878" cy="3727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750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239161-BD18-F2C2-AF09-8FA363607F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008" y="1289153"/>
            <a:ext cx="9144000" cy="1909763"/>
          </a:xfrm>
        </p:spPr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Organisation d’une séquence de formation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610EB1A-FB2A-22EA-E3FD-7489BF21C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5119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6BCCCD-AF1E-493F-BD42-5832B44D6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Modalité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FF6FCA0-D183-42FA-2AFD-A461290BA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CC0205-AF05-4B33-965E-90BF431DF3FA}" type="slidenum">
              <a:rPr lang="fr-FR" smtClean="0"/>
              <a:t>12</a:t>
            </a:fld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9752709-90BE-4B2E-903D-65925F557612}"/>
              </a:ext>
            </a:extLst>
          </p:cNvPr>
          <p:cNvSpPr txBox="1"/>
          <p:nvPr/>
        </p:nvSpPr>
        <p:spPr>
          <a:xfrm>
            <a:off x="931983" y="2369234"/>
            <a:ext cx="1009943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BUT Réseau et Télécommunication parcours Internet des Objets et Mobilité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Formation en 3 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Place en 2 </a:t>
            </a:r>
            <a:r>
              <a:rPr lang="fr-FR" dirty="0" err="1"/>
              <a:t>eme</a:t>
            </a:r>
            <a:r>
              <a:rPr lang="fr-FR" dirty="0"/>
              <a:t> année au 4eme semestre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Promotion d’environ 80 élèves,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TD en classes d’une 20aine d’élèves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AP avec environ 12 élèves </a:t>
            </a:r>
          </a:p>
          <a:p>
            <a:endParaRPr lang="fr-FR" dirty="0"/>
          </a:p>
          <a:p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90304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0FFA90-AB96-0C88-03ED-A2C398D2B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Objectifs : AC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1025CD2-D52B-66A9-9C2F-B9A33153C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CC0205-AF05-4B33-965E-90BF431DF3FA}" type="slidenum">
              <a:rPr lang="fr-FR" smtClean="0"/>
              <a:t>13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853EAA3-BE22-C96F-908F-B919F9850A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8531"/>
          <a:stretch>
            <a:fillRect/>
          </a:stretch>
        </p:blipFill>
        <p:spPr>
          <a:xfrm>
            <a:off x="992519" y="2222705"/>
            <a:ext cx="10206961" cy="122260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37C2A4F-1337-7059-1333-7D87609C2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79" y="4206443"/>
            <a:ext cx="11092842" cy="777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610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105829-0216-4D0F-E4A0-664E0288A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Objectifs : savoirs associés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BC4F32E-99E6-ACC8-7F3B-3A13F7664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CC0205-AF05-4B33-965E-90BF431DF3FA}" type="slidenum">
              <a:rPr lang="fr-FR" smtClean="0"/>
              <a:t>14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1745D7F-57CC-4AA2-EE7E-255136256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38" y="2860431"/>
            <a:ext cx="11627269" cy="167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418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B4A7F-095A-4804-AE44-2C3AD1B0B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C28837-290E-0926-F28E-241346C28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Prérequis de la séquence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B5D28AF-AEA2-95F2-2658-1C8FFD618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CC0205-AF05-4B33-965E-90BF431DF3FA}" type="slidenum">
              <a:rPr lang="fr-FR" smtClean="0"/>
              <a:t>15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FEEA964-E767-2686-8DE6-88A565F62357}"/>
              </a:ext>
            </a:extLst>
          </p:cNvPr>
          <p:cNvSpPr txBox="1"/>
          <p:nvPr/>
        </p:nvSpPr>
        <p:spPr>
          <a:xfrm>
            <a:off x="1746738" y="3036277"/>
            <a:ext cx="3189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Coder en Arduino et en python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9761D1C-0756-8C7D-B9C2-5A6429305EEE}"/>
              </a:ext>
            </a:extLst>
          </p:cNvPr>
          <p:cNvSpPr txBox="1"/>
          <p:nvPr/>
        </p:nvSpPr>
        <p:spPr>
          <a:xfrm>
            <a:off x="1744942" y="3654187"/>
            <a:ext cx="2724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Utiliser un terminal et </a:t>
            </a:r>
            <a:r>
              <a:rPr lang="fr-FR" dirty="0" err="1"/>
              <a:t>vim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75D2F5D-36D5-AFB9-1379-3134160D15EA}"/>
              </a:ext>
            </a:extLst>
          </p:cNvPr>
          <p:cNvSpPr txBox="1"/>
          <p:nvPr/>
        </p:nvSpPr>
        <p:spPr>
          <a:xfrm>
            <a:off x="1744942" y="4381866"/>
            <a:ext cx="3219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Chercher de la documentation</a:t>
            </a:r>
          </a:p>
        </p:txBody>
      </p:sp>
    </p:spTree>
    <p:extLst>
      <p:ext uri="{BB962C8B-B14F-4D97-AF65-F5344CB8AC3E}">
        <p14:creationId xmlns:p14="http://schemas.microsoft.com/office/powerpoint/2010/main" val="30609827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7CDEB4-BEB1-5A42-2E9F-8C12F4CF1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Architecture de la séquence : modalités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8B63B8C-EA60-94A8-FC39-09098EA6A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CC0205-AF05-4B33-965E-90BF431DF3FA}" type="slidenum">
              <a:rPr lang="fr-FR" smtClean="0"/>
              <a:t>16</a:t>
            </a:fld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B679754-06B6-AA80-642D-B9D94D5B7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10 h dont 5 h de </a:t>
            </a:r>
            <a:r>
              <a:rPr lang="fr-FR" dirty="0" err="1"/>
              <a:t>APs</a:t>
            </a:r>
            <a:endParaRPr lang="fr-FR" dirty="0"/>
          </a:p>
          <a:p>
            <a:endParaRPr lang="fr-FR" dirty="0"/>
          </a:p>
          <a:p>
            <a:r>
              <a:rPr lang="fr-FR" dirty="0" err="1"/>
              <a:t>APs</a:t>
            </a:r>
            <a:r>
              <a:rPr lang="fr-FR" dirty="0"/>
              <a:t> en groupe de </a:t>
            </a:r>
            <a:r>
              <a:rPr lang="fr-FR"/>
              <a:t>2 élèves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469423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DD95C-D831-FCA6-AC60-7EC905B70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C8DE87-E062-F164-2435-A46757DD1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Architecture de la séquence : évaluation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5CD3041-7B8D-0B9B-EF5E-667D3D144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CC0205-AF05-4B33-965E-90BF431DF3FA}" type="slidenum">
              <a:rPr lang="fr-FR" smtClean="0"/>
              <a:t>17</a:t>
            </a:fld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77EACB5-2FAC-AC63-BD8D-E83078839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  <a:p>
            <a:r>
              <a:rPr lang="fr-FR" dirty="0"/>
              <a:t>Évaluation formative à l’oral</a:t>
            </a:r>
          </a:p>
          <a:p>
            <a:endParaRPr lang="fr-FR" dirty="0"/>
          </a:p>
          <a:p>
            <a:r>
              <a:rPr lang="fr-FR" dirty="0"/>
              <a:t>Évaluation sommative</a:t>
            </a:r>
          </a:p>
          <a:p>
            <a:pPr lvl="1"/>
            <a:r>
              <a:rPr lang="fr-FR" dirty="0"/>
              <a:t>Reprend les connaissances avec des sujets ouverts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089845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5B8BB-6307-A7AE-8336-01031C455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6C35FD-02AF-AFF6-7F52-3DC136366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Architecture de la séquence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5FA9E1-4BEE-C359-16E3-E9AC9FB5C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CC0205-AF05-4B33-965E-90BF431DF3FA}" type="slidenum">
              <a:rPr lang="fr-FR" smtClean="0"/>
              <a:t>18</a:t>
            </a:fld>
            <a:endParaRPr lang="fr-FR" dirty="0"/>
          </a:p>
        </p:txBody>
      </p:sp>
      <p:sp>
        <p:nvSpPr>
          <p:cNvPr id="5" name="Flèche : chevron 4">
            <a:extLst>
              <a:ext uri="{FF2B5EF4-FFF2-40B4-BE49-F238E27FC236}">
                <a16:creationId xmlns:a16="http://schemas.microsoft.com/office/drawing/2014/main" id="{1C121B8C-5FAE-F770-F47B-50A4002EDA81}"/>
              </a:ext>
            </a:extLst>
          </p:cNvPr>
          <p:cNvSpPr/>
          <p:nvPr/>
        </p:nvSpPr>
        <p:spPr>
          <a:xfrm>
            <a:off x="1638680" y="2116016"/>
            <a:ext cx="3691011" cy="1096108"/>
          </a:xfrm>
          <a:prstGeom prst="chevron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TP 2h30 </a:t>
            </a:r>
          </a:p>
          <a:p>
            <a:pPr algn="ctr"/>
            <a:r>
              <a:rPr lang="fr-FR" dirty="0">
                <a:solidFill>
                  <a:schemeClr val="tx1"/>
                </a:solidFill>
              </a:rPr>
              <a:t>Topologie</a:t>
            </a:r>
          </a:p>
        </p:txBody>
      </p:sp>
      <p:sp>
        <p:nvSpPr>
          <p:cNvPr id="13" name="Flèche : chevron 12">
            <a:extLst>
              <a:ext uri="{FF2B5EF4-FFF2-40B4-BE49-F238E27FC236}">
                <a16:creationId xmlns:a16="http://schemas.microsoft.com/office/drawing/2014/main" id="{37686E5C-93EF-9009-6461-3AEF1CEE29C0}"/>
              </a:ext>
            </a:extLst>
          </p:cNvPr>
          <p:cNvSpPr/>
          <p:nvPr/>
        </p:nvSpPr>
        <p:spPr>
          <a:xfrm>
            <a:off x="4229099" y="2116016"/>
            <a:ext cx="3691011" cy="1096108"/>
          </a:xfrm>
          <a:prstGeom prst="chevro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CM 1h </a:t>
            </a:r>
          </a:p>
          <a:p>
            <a:pPr algn="ctr"/>
            <a:r>
              <a:rPr lang="fr-FR" dirty="0">
                <a:solidFill>
                  <a:schemeClr val="tx1"/>
                </a:solidFill>
              </a:rPr>
              <a:t>Institutionnalisation</a:t>
            </a:r>
          </a:p>
        </p:txBody>
      </p:sp>
      <p:sp>
        <p:nvSpPr>
          <p:cNvPr id="15" name="Flèche : chevron 14">
            <a:extLst>
              <a:ext uri="{FF2B5EF4-FFF2-40B4-BE49-F238E27FC236}">
                <a16:creationId xmlns:a16="http://schemas.microsoft.com/office/drawing/2014/main" id="{A2ABB116-7E7E-34DF-A76A-3B57FFD04420}"/>
              </a:ext>
            </a:extLst>
          </p:cNvPr>
          <p:cNvSpPr/>
          <p:nvPr/>
        </p:nvSpPr>
        <p:spPr>
          <a:xfrm>
            <a:off x="7047326" y="2116016"/>
            <a:ext cx="3691011" cy="1096108"/>
          </a:xfrm>
          <a:prstGeom prst="chevro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AD 1h</a:t>
            </a:r>
          </a:p>
          <a:p>
            <a:pPr algn="ctr"/>
            <a:r>
              <a:rPr lang="fr-FR" dirty="0">
                <a:solidFill>
                  <a:schemeClr val="tx1"/>
                </a:solidFill>
              </a:rPr>
              <a:t>Exercices</a:t>
            </a:r>
          </a:p>
        </p:txBody>
      </p:sp>
      <p:sp>
        <p:nvSpPr>
          <p:cNvPr id="10" name="Flèche : chevron 9">
            <a:extLst>
              <a:ext uri="{FF2B5EF4-FFF2-40B4-BE49-F238E27FC236}">
                <a16:creationId xmlns:a16="http://schemas.microsoft.com/office/drawing/2014/main" id="{8031BB7A-B0C7-D1A1-EAF8-63A79E1D8F9F}"/>
              </a:ext>
            </a:extLst>
          </p:cNvPr>
          <p:cNvSpPr/>
          <p:nvPr/>
        </p:nvSpPr>
        <p:spPr>
          <a:xfrm>
            <a:off x="1638680" y="3921369"/>
            <a:ext cx="3691011" cy="1096108"/>
          </a:xfrm>
          <a:prstGeom prst="chevron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TP 2h30 </a:t>
            </a:r>
          </a:p>
          <a:p>
            <a:pPr algn="ctr"/>
            <a:r>
              <a:rPr lang="fr-FR" dirty="0">
                <a:solidFill>
                  <a:schemeClr val="tx1"/>
                </a:solidFill>
              </a:rPr>
              <a:t>SCE</a:t>
            </a:r>
          </a:p>
        </p:txBody>
      </p:sp>
      <p:sp>
        <p:nvSpPr>
          <p:cNvPr id="11" name="Flèche : chevron 10">
            <a:extLst>
              <a:ext uri="{FF2B5EF4-FFF2-40B4-BE49-F238E27FC236}">
                <a16:creationId xmlns:a16="http://schemas.microsoft.com/office/drawing/2014/main" id="{0ED0E0C2-815D-D41B-794F-8C163E203D9C}"/>
              </a:ext>
            </a:extLst>
          </p:cNvPr>
          <p:cNvSpPr/>
          <p:nvPr/>
        </p:nvSpPr>
        <p:spPr>
          <a:xfrm>
            <a:off x="4229099" y="3921369"/>
            <a:ext cx="3691011" cy="1096108"/>
          </a:xfrm>
          <a:prstGeom prst="chevro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AD 1h30 </a:t>
            </a:r>
          </a:p>
          <a:p>
            <a:pPr algn="ctr"/>
            <a:r>
              <a:rPr lang="fr-FR" dirty="0">
                <a:solidFill>
                  <a:schemeClr val="tx1"/>
                </a:solidFill>
              </a:rPr>
              <a:t>Institutionnalisation</a:t>
            </a:r>
          </a:p>
        </p:txBody>
      </p:sp>
      <p:sp>
        <p:nvSpPr>
          <p:cNvPr id="12" name="Flèche : chevron 11">
            <a:extLst>
              <a:ext uri="{FF2B5EF4-FFF2-40B4-BE49-F238E27FC236}">
                <a16:creationId xmlns:a16="http://schemas.microsoft.com/office/drawing/2014/main" id="{1EBAB75B-6E96-7B86-B19B-D3D4E1D04F3E}"/>
              </a:ext>
            </a:extLst>
          </p:cNvPr>
          <p:cNvSpPr/>
          <p:nvPr/>
        </p:nvSpPr>
        <p:spPr>
          <a:xfrm>
            <a:off x="7047326" y="3921369"/>
            <a:ext cx="3691011" cy="1096108"/>
          </a:xfrm>
          <a:prstGeom prst="chevro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CM 1h</a:t>
            </a:r>
          </a:p>
          <a:p>
            <a:pPr algn="ctr"/>
            <a:r>
              <a:rPr lang="fr-FR" dirty="0">
                <a:solidFill>
                  <a:schemeClr val="tx1"/>
                </a:solidFill>
              </a:rPr>
              <a:t>évaluation</a:t>
            </a:r>
          </a:p>
        </p:txBody>
      </p:sp>
    </p:spTree>
    <p:extLst>
      <p:ext uri="{BB962C8B-B14F-4D97-AF65-F5344CB8AC3E}">
        <p14:creationId xmlns:p14="http://schemas.microsoft.com/office/powerpoint/2010/main" val="841044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570F5-7AC4-6705-E3AA-AB61A80D7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0DBAC6-482B-6EC4-8362-470D63C45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1B83FBA-5626-FA55-136B-A02F27B1A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CC0205-AF05-4B33-965E-90BF431DF3FA}" type="slidenum">
              <a:rPr lang="fr-FR" smtClean="0"/>
              <a:t>19</a:t>
            </a:fld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1C06B80-0553-36A5-F110-CF6F87C79484}"/>
              </a:ext>
            </a:extLst>
          </p:cNvPr>
          <p:cNvSpPr txBox="1"/>
          <p:nvPr/>
        </p:nvSpPr>
        <p:spPr>
          <a:xfrm>
            <a:off x="980573" y="1937083"/>
            <a:ext cx="2239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Introduction : 10 min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501C4F6-E813-0B3F-2D20-0E34F764D88E}"/>
              </a:ext>
            </a:extLst>
          </p:cNvPr>
          <p:cNvSpPr txBox="1"/>
          <p:nvPr/>
        </p:nvSpPr>
        <p:spPr>
          <a:xfrm>
            <a:off x="1445794" y="3749841"/>
            <a:ext cx="2278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Connexion du Switch</a:t>
            </a:r>
          </a:p>
        </p:txBody>
      </p:sp>
    </p:spTree>
    <p:extLst>
      <p:ext uri="{BB962C8B-B14F-4D97-AF65-F5344CB8AC3E}">
        <p14:creationId xmlns:p14="http://schemas.microsoft.com/office/powerpoint/2010/main" val="16768065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C12C9-19F7-5857-6C88-80E58DEAE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41B032-03C8-170F-DFC5-C1A36EB3E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78D67D-C4F4-76D2-A919-07F38469C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CC0205-AF05-4B33-965E-90BF431DF3FA}" type="slidenum">
              <a:rPr lang="fr-FR" smtClean="0"/>
              <a:t>20</a:t>
            </a:fld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29B3EFF-6823-75A2-48DE-D6B3BC760966}"/>
              </a:ext>
            </a:extLst>
          </p:cNvPr>
          <p:cNvSpPr txBox="1"/>
          <p:nvPr/>
        </p:nvSpPr>
        <p:spPr>
          <a:xfrm>
            <a:off x="415089" y="1798972"/>
            <a:ext cx="5282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Communication entre Raspberry et Arduino : 50 min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AC9EF36-5890-777E-96CD-F8B4457937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674018"/>
            <a:ext cx="4432133" cy="2811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642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EB71B-7BE1-F2A7-EE9B-58A407546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0A78B2-B15D-F062-B0EE-749BA0BA8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48098A5-E487-111A-5D9E-223EEFAF4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CC0205-AF05-4B33-965E-90BF431DF3FA}" type="slidenum">
              <a:rPr lang="fr-FR" smtClean="0"/>
              <a:t>21</a:t>
            </a:fld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BC3FDEC-E586-CAA2-C0E1-AF15508A10AC}"/>
              </a:ext>
            </a:extLst>
          </p:cNvPr>
          <p:cNvSpPr txBox="1"/>
          <p:nvPr/>
        </p:nvSpPr>
        <p:spPr>
          <a:xfrm>
            <a:off x="415089" y="1798972"/>
            <a:ext cx="5123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Communication entre Raspberry et 2 Arduino : 1h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F559E4C-5EE3-8717-D5A6-B7B92F0C6A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598" y="2608847"/>
            <a:ext cx="4323097" cy="350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0290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E79B2-A18F-ECEE-C2AB-1021F26F4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895D08-BA6D-14A6-1C71-4B020A05C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F89F52C-7A59-7A15-4932-629C6A061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CC0205-AF05-4B33-965E-90BF431DF3FA}" type="slidenum">
              <a:rPr lang="fr-FR" smtClean="0"/>
              <a:t>22</a:t>
            </a:fld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9EFC477-D467-4AD1-506D-2DF053BADDB7}"/>
              </a:ext>
            </a:extLst>
          </p:cNvPr>
          <p:cNvSpPr txBox="1"/>
          <p:nvPr/>
        </p:nvSpPr>
        <p:spPr>
          <a:xfrm>
            <a:off x="631658" y="1991477"/>
            <a:ext cx="4866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Passage de l’enseignant dans les rangs : 30 min</a:t>
            </a:r>
          </a:p>
        </p:txBody>
      </p:sp>
    </p:spTree>
    <p:extLst>
      <p:ext uri="{BB962C8B-B14F-4D97-AF65-F5344CB8AC3E}">
        <p14:creationId xmlns:p14="http://schemas.microsoft.com/office/powerpoint/2010/main" val="33328424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B786F1-6107-B718-A7A0-ABB51CA7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87117"/>
            <a:ext cx="10515600" cy="1325563"/>
          </a:xfrm>
        </p:spPr>
        <p:txBody>
          <a:bodyPr/>
          <a:lstStyle/>
          <a:p>
            <a:pPr algn="ctr"/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2C08B1F-C0A0-7A00-02F8-DC97FE60B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CC0205-AF05-4B33-965E-90BF431DF3FA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797435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Microsoft Office PowerPoint</Application>
  <PresentationFormat>Grand écran</PresentationFormat>
  <Paragraphs>107</Paragraphs>
  <Slides>23</Slides>
  <Notes>0</Notes>
  <HiddenSlides>1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Maquette : Matériel</vt:lpstr>
      <vt:lpstr>Maquette : Réseau</vt:lpstr>
      <vt:lpstr>Logiciel :</vt:lpstr>
      <vt:lpstr>Travaux pratique : Communication Série</vt:lpstr>
      <vt:lpstr>Travaux pratique : hcitool </vt:lpstr>
      <vt:lpstr>Travaux pratique : bluepy </vt:lpstr>
      <vt:lpstr>Travaux pratique : Communication avec le Robot </vt:lpstr>
      <vt:lpstr>Organisation d’une séquence de formation</vt:lpstr>
      <vt:lpstr>Modalité</vt:lpstr>
      <vt:lpstr>Objectifs : AC</vt:lpstr>
      <vt:lpstr>Objectifs : savoirs associés</vt:lpstr>
      <vt:lpstr>Prérequis de la séquence</vt:lpstr>
      <vt:lpstr>Architecture de la séquence : modalités</vt:lpstr>
      <vt:lpstr>Architecture de la séquence : évaluation</vt:lpstr>
      <vt:lpstr>Architecture de la séquence</vt:lpstr>
      <vt:lpstr>SCE</vt:lpstr>
      <vt:lpstr>SCE</vt:lpstr>
      <vt:lpstr>SCE</vt:lpstr>
      <vt:lpstr>SCE</vt:lpstr>
      <vt:lpstr>FIN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Thierry jolan</dc:creator>
  <cp:lastModifiedBy>Tanguy Humbert</cp:lastModifiedBy>
  <cp:revision>25</cp:revision>
  <dcterms:created xsi:type="dcterms:W3CDTF">2026-03-16T15:55:52Z</dcterms:created>
  <dcterms:modified xsi:type="dcterms:W3CDTF">2026-06-03T08:51:20Z</dcterms:modified>
</cp:coreProperties>
</file>