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8"/>
  </p:notesMasterIdLst>
  <p:sldIdLst>
    <p:sldId id="256" r:id="rId2"/>
    <p:sldId id="257" r:id="rId3"/>
    <p:sldId id="258" r:id="rId4"/>
    <p:sldId id="269" r:id="rId5"/>
    <p:sldId id="270" r:id="rId6"/>
    <p:sldId id="27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35E84117-2966-4904-B3F9-F324F1EA89F9}">
          <p14:sldIdLst>
            <p14:sldId id="256"/>
          </p14:sldIdLst>
        </p14:section>
        <p14:section name="BUT GEII" id="{E53AD2E8-2245-4707-848A-C0FC0F2F72B4}">
          <p14:sldIdLst>
            <p14:sldId id="257"/>
            <p14:sldId id="258"/>
          </p14:sldIdLst>
        </p14:section>
        <p14:section name="BUT R&amp;T" id="{C1AA4397-45E6-441F-B375-64EA707F7C4F}">
          <p14:sldIdLst>
            <p14:sldId id="269"/>
            <p14:sldId id="270"/>
            <p14:sldId id="275"/>
          </p14:sldIdLst>
        </p14:section>
        <p14:section name="BTS CIEL" id="{D1ED1709-4A38-48E7-9862-26A9D8207EE1}">
          <p14:sldIdLst/>
        </p14:section>
        <p14:section name="Terminale SI" id="{BD038BEF-8786-4C22-9674-A40E75CAC3BF}">
          <p14:sldIdLst/>
        </p14:section>
        <p14:section name="Terminale/Première STI2D" id="{934C83D2-F504-4283-946E-7A8E08E5F3DB}">
          <p14:sldIdLst/>
        </p14:section>
        <p14:section name="PTSI/PT" id="{CD69769C-0C3E-408A-96E6-17550AA781E3}">
          <p14:sldIdLst/>
        </p14:section>
        <p14:section name="TSI" id="{528D33AF-7AC9-4D11-967D-BEF0AA35D807}">
          <p14:sldIdLst/>
        </p14:section>
        <p14:section name="PSI" id="{FE91174A-2B02-42BB-A292-487E7B136E6D}">
          <p14:sldIdLst/>
        </p14:section>
        <p14:section name="PCSI" id="{7E05B8AD-E450-4BC3-9B2C-4ADAF6EDCFE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50" autoAdjust="0"/>
    <p:restoredTop sz="94660"/>
  </p:normalViewPr>
  <p:slideViewPr>
    <p:cSldViewPr snapToGrid="0">
      <p:cViewPr varScale="1">
        <p:scale>
          <a:sx n="36" d="100"/>
          <a:sy n="36" d="100"/>
        </p:scale>
        <p:origin x="34" y="12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A7C7-51D5-4CE9-848C-73CCDCB5AD2A}" type="datetimeFigureOut">
              <a:rPr lang="fr-FR" smtClean="0"/>
              <a:t>12/06/2026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025D0-A47D-4AF2-993F-F9C2E2046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29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F637-99A3-E642-0945-42D13AE0F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F5E074F-4838-BF10-91A0-E403FD68E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CA3FD37-3DE3-CF43-5EEF-6CD944FB4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Chiffres d’effectif pour l’IUT </a:t>
            </a:r>
            <a:r>
              <a:rPr lang="fr-FR" dirty="0" err="1"/>
              <a:t>blagnac</a:t>
            </a:r>
            <a:endParaRPr lang="fr-FR" dirty="0"/>
          </a:p>
          <a:p>
            <a:r>
              <a:rPr lang="fr-FR" dirty="0"/>
              <a:t>Chiffres de la formation sur le site des </a:t>
            </a:r>
            <a:r>
              <a:rPr lang="fr-FR" dirty="0" err="1"/>
              <a:t>iuts</a:t>
            </a:r>
            <a:r>
              <a:rPr lang="fr-FR" dirty="0"/>
              <a:t> de R&amp;T par une enquête interne de l’ACD R&amp;T 2022</a:t>
            </a:r>
          </a:p>
          <a:p>
            <a:r>
              <a:rPr lang="fr-FR" dirty="0"/>
              <a:t>(Assemblées des Chefs de Départements)</a:t>
            </a:r>
          </a:p>
          <a:p>
            <a:endParaRPr lang="fr-FR" dirty="0"/>
          </a:p>
          <a:p>
            <a:r>
              <a:rPr lang="fr-FR" dirty="0"/>
              <a:t>Réorientation IUT1 </a:t>
            </a:r>
            <a:r>
              <a:rPr lang="fr-FR" dirty="0" err="1"/>
              <a:t>grenobles</a:t>
            </a:r>
            <a:endParaRPr lang="fr-FR" dirty="0"/>
          </a:p>
          <a:p>
            <a:r>
              <a:rPr lang="fr-FR" dirty="0"/>
              <a:t>10 % pour les bacs techno</a:t>
            </a:r>
          </a:p>
          <a:p>
            <a:r>
              <a:rPr lang="fr-FR" dirty="0"/>
              <a:t>20 % pour les bacs </a:t>
            </a:r>
            <a:r>
              <a:rPr lang="fr-FR" dirty="0" err="1"/>
              <a:t>génraux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Récommandées</a:t>
            </a:r>
            <a:r>
              <a:rPr lang="fr-FR" dirty="0"/>
              <a:t> :</a:t>
            </a:r>
          </a:p>
          <a:p>
            <a:r>
              <a:rPr lang="fr-FR" dirty="0"/>
              <a:t>Bac gé avec :</a:t>
            </a:r>
          </a:p>
          <a:p>
            <a:pPr marL="171450" indent="-171450">
              <a:buFontTx/>
              <a:buChar char="-"/>
            </a:pPr>
            <a:r>
              <a:rPr lang="fr-FR" dirty="0"/>
              <a:t>Mathématiques</a:t>
            </a:r>
          </a:p>
          <a:p>
            <a:pPr marL="171450" indent="-171450">
              <a:buFontTx/>
              <a:buChar char="-"/>
            </a:pPr>
            <a:r>
              <a:rPr lang="fr-FR" dirty="0"/>
              <a:t>NSI</a:t>
            </a:r>
          </a:p>
          <a:p>
            <a:pPr marL="171450" indent="-171450">
              <a:buFontTx/>
              <a:buChar char="-"/>
            </a:pPr>
            <a:r>
              <a:rPr lang="fr-FR" dirty="0"/>
              <a:t>PC</a:t>
            </a:r>
          </a:p>
          <a:p>
            <a:pPr marL="171450" indent="-171450">
              <a:buFontTx/>
              <a:buChar char="-"/>
            </a:pPr>
            <a:r>
              <a:rPr lang="fr-FR" dirty="0"/>
              <a:t>SI</a:t>
            </a:r>
          </a:p>
          <a:p>
            <a:pPr marL="0" indent="0">
              <a:buFontTx/>
              <a:buNone/>
            </a:pPr>
            <a:r>
              <a:rPr lang="fr-FR" dirty="0"/>
              <a:t>Bac STI2D</a:t>
            </a:r>
          </a:p>
          <a:p>
            <a:pPr marL="0" indent="0">
              <a:buFontTx/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9F53F3-0B52-B898-24FD-6FB55C69F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CDEAB-4DA5-41C5-8AE0-9362D38F26C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707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FA54-31E2-0992-21BF-C570102F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594C7B-B3F0-FE79-E583-851D97B1D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C9C114B-4EF9-2A2D-8878-392119D6B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10 en 2A</a:t>
            </a:r>
          </a:p>
          <a:p>
            <a:pPr marL="171450" indent="-171450">
              <a:buFontTx/>
              <a:buChar char="-"/>
            </a:pPr>
            <a:r>
              <a:rPr lang="fr-FR" dirty="0"/>
              <a:t>16 en 3A</a:t>
            </a:r>
          </a:p>
          <a:p>
            <a:pPr marL="171450" indent="-171450">
              <a:buFontTx/>
              <a:buChar char="-"/>
            </a:pPr>
            <a:r>
              <a:rPr lang="fr-FR" dirty="0"/>
              <a:t>Pour </a:t>
            </a:r>
          </a:p>
          <a:p>
            <a:pPr marL="171450" indent="-171450">
              <a:buFontTx/>
              <a:buChar char="-"/>
            </a:pPr>
            <a:endParaRPr lang="fr-FR" dirty="0"/>
          </a:p>
          <a:p>
            <a:pPr marL="171450" indent="-171450">
              <a:buFontTx/>
              <a:buChar char="-"/>
            </a:pPr>
            <a:endParaRPr lang="fr-FR" dirty="0"/>
          </a:p>
          <a:p>
            <a:pPr marL="171450" indent="-171450">
              <a:buFontTx/>
              <a:buChar char="-"/>
            </a:pPr>
            <a:r>
              <a:rPr lang="fr-FR" dirty="0"/>
              <a:t>des semaines d’une 30</a:t>
            </a:r>
            <a:r>
              <a:rPr lang="fr-FR" baseline="30000" dirty="0"/>
              <a:t>aine</a:t>
            </a:r>
            <a:r>
              <a:rPr lang="fr-FR" dirty="0"/>
              <a:t> d’heures.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4A5BBB-C93A-0D36-D566-C03169FCA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CDEAB-4DA5-41C5-8AE0-9362D38F26C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967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8A807-BA04-439C-C1C9-3169DDDF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00ABAC-48AD-204C-9F72-27B6CC52C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192895-75B6-F9AC-AC90-34588C9C7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fr-FR" dirty="0"/>
              <a:t>Résonne en milieu professionnel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C8D049-D405-F69D-5C3D-2015BAFC2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BCDEAB-4DA5-41C5-8AE0-9362D38F26C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44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5BF4BE5-493C-4950-8611-4B73EBA124A3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1231E6-B321-0B67-D767-F5F0AAFD2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15977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4F8F-65AC-4766-A2F7-69AD9EC8EDDE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03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F0BDA-B3DF-4C30-B725-2619B0E62ACD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9183F09-4D74-DF4B-058F-6F3E22E45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3063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7BCF4-2F57-44BE-86E1-4D2E12B5FC6A}" type="datetime1">
              <a:rPr lang="fr-FR" smtClean="0"/>
              <a:t>12/06/2026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633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1D020-EA2F-4E08-9F19-25238FB1646F}" type="datetime1">
              <a:rPr lang="fr-FR" smtClean="0"/>
              <a:t>12/06/2026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10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9C80-4ECC-4A86-ACB8-43004AF15481}" type="datetime1">
              <a:rPr lang="fr-FR" smtClean="0"/>
              <a:t>12/06/2026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49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220C-94C3-4D23-98DD-B536DE4A6F2C}" type="datetime1">
              <a:rPr lang="fr-FR" smtClean="0"/>
              <a:t>12/06/2026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36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7193F2-5089-4D6D-B951-141B92746967}" type="datetime1">
              <a:rPr lang="fr-FR" smtClean="0"/>
              <a:t>12/06/2026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E75D6BE-C78D-BB10-E801-DB8CE7287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06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55EEFE-CE4B-45B5-811F-7C771B7BD159}" type="datetime1">
              <a:rPr lang="fr-FR" smtClean="0"/>
              <a:t>12/06/2026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A637D9-D62A-A3FC-AA8B-076DEAAF5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800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0509C-B4B3-4DBB-BCC9-40D57FCA4C66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38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CFBF-E380-4D91-9539-BDFDF7AF5C45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69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865F967-DFD5-47C5-B34E-026F86C5401C}" type="datetime1">
              <a:rPr lang="fr-FR" smtClean="0"/>
              <a:t>12/06/2026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57474" y="6342017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aseline="0">
                <a:solidFill>
                  <a:schemeClr val="tx2"/>
                </a:solidFill>
              </a:defRPr>
            </a:lvl1pPr>
          </a:lstStyle>
          <a:p>
            <a:fld id="{40743BAD-0FD4-4AFD-913F-F1B3782AF39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87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E1344C-802D-F5C3-6668-E88440276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55871"/>
          </a:xfrm>
        </p:spPr>
        <p:txBody>
          <a:bodyPr>
            <a:noAutofit/>
          </a:bodyPr>
          <a:lstStyle/>
          <a:p>
            <a:r>
              <a:rPr lang="fr-FR" sz="4000" dirty="0"/>
              <a:t>Épreuve d’exploitation pédagogique d’une activité pratique relative à l’approche globale d’un système </a:t>
            </a:r>
            <a:r>
              <a:rPr lang="fr-FR" sz="4000" dirty="0" err="1"/>
              <a:t>pluritechnologique</a:t>
            </a:r>
            <a:endParaRPr lang="fr-FR" sz="4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5A5FBB-EE00-B50C-DB06-9F4832DA6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1913"/>
            <a:ext cx="9144000" cy="1279567"/>
          </a:xfrm>
        </p:spPr>
        <p:txBody>
          <a:bodyPr/>
          <a:lstStyle/>
          <a:p>
            <a:r>
              <a:rPr lang="fr-FR" dirty="0"/>
              <a:t>Sciences Industrielles de l’Ingénieur</a:t>
            </a:r>
          </a:p>
          <a:p>
            <a:r>
              <a:rPr lang="fr-FR" dirty="0"/>
              <a:t>Spécialité Ingénierie Informatique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8C9DADD-C515-2532-54B3-59090AF77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1013" y="6447022"/>
            <a:ext cx="1596292" cy="404614"/>
          </a:xfrm>
        </p:spPr>
        <p:txBody>
          <a:bodyPr/>
          <a:lstStyle/>
          <a:p>
            <a:fld id="{40743BAD-0FD4-4AFD-913F-F1B3782AF393}" type="slidenum">
              <a:rPr lang="fr-FR" smtClean="0"/>
              <a:t>1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FFC0B0-168A-3FED-EC8E-AC3BD66206D0}"/>
              </a:ext>
            </a:extLst>
          </p:cNvPr>
          <p:cNvSpPr txBox="1"/>
          <p:nvPr/>
        </p:nvSpPr>
        <p:spPr>
          <a:xfrm>
            <a:off x="264695" y="5732363"/>
            <a:ext cx="3681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N° candidat : </a:t>
            </a:r>
            <a:r>
              <a:rPr lang="fr-FR" b="1" dirty="0"/>
              <a:t>1234567</a:t>
            </a:r>
          </a:p>
          <a:p>
            <a:r>
              <a:rPr lang="fr-FR" dirty="0"/>
              <a:t>HUMBERT Tanguy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D0533-8677-F333-9AC9-20ECA50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19C139-1868-FA78-8B94-DF32CB103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275474-7A16-3F3B-0A26-324E3E98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87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2E2F2-5123-77B2-5079-A7F3F885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Emploi du temps 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D7E57C-23B9-62F8-C26D-F60D8BF1D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F2DD57-C812-2D96-9878-E94D68C7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43BAD-0FD4-4AFD-913F-F1B3782AF39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070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58DB-6A5D-6EAF-62CA-93B3FDB1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29A41B-ACD6-A933-E495-48E1AB09E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0721A8-6F2E-284E-CF54-1FC73E6A5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4086"/>
            <a:ext cx="10120184" cy="4649300"/>
          </a:xfrm>
        </p:spPr>
        <p:txBody>
          <a:bodyPr>
            <a:normAutofit/>
          </a:bodyPr>
          <a:lstStyle/>
          <a:p>
            <a:r>
              <a:rPr lang="fr-FR" dirty="0"/>
              <a:t>Formation : BUT Réseaux et Télécommunications </a:t>
            </a:r>
            <a:r>
              <a:rPr lang="fr-FR" b="1" dirty="0"/>
              <a:t>(R&amp;T)</a:t>
            </a:r>
          </a:p>
          <a:p>
            <a:r>
              <a:rPr lang="fr-FR" dirty="0"/>
              <a:t>Lieu : Institut Universitaire de Technologie (I.U.T.)</a:t>
            </a:r>
          </a:p>
          <a:p>
            <a:r>
              <a:rPr lang="fr-FR" dirty="0"/>
              <a:t>Durée : 3 ans pour 6 semestres</a:t>
            </a:r>
          </a:p>
          <a:p>
            <a:r>
              <a:rPr lang="fr-FR" dirty="0"/>
              <a:t>Effectif :</a:t>
            </a:r>
          </a:p>
          <a:p>
            <a:pPr lvl="1"/>
            <a:r>
              <a:rPr lang="fr-FR" dirty="0"/>
              <a:t>Promotions de 84 élèves en 1</a:t>
            </a:r>
            <a:r>
              <a:rPr lang="fr-FR" baseline="30000" dirty="0"/>
              <a:t>ère  </a:t>
            </a:r>
            <a:r>
              <a:rPr lang="fr-FR" dirty="0"/>
              <a:t>année, 52 en 2</a:t>
            </a:r>
            <a:r>
              <a:rPr lang="fr-FR" baseline="30000" dirty="0"/>
              <a:t>nd</a:t>
            </a:r>
            <a:r>
              <a:rPr lang="fr-FR" dirty="0"/>
              <a:t> et 52 en 3</a:t>
            </a:r>
            <a:r>
              <a:rPr lang="fr-FR" baseline="30000" dirty="0"/>
              <a:t>ème</a:t>
            </a:r>
            <a:r>
              <a:rPr lang="fr-FR" dirty="0"/>
              <a:t> </a:t>
            </a:r>
          </a:p>
          <a:p>
            <a:pPr lvl="1"/>
            <a:r>
              <a:rPr lang="fr-FR" dirty="0" err="1"/>
              <a:t>TDs</a:t>
            </a:r>
            <a:r>
              <a:rPr lang="fr-FR" dirty="0"/>
              <a:t> d’environ vingt étudiants</a:t>
            </a:r>
          </a:p>
          <a:p>
            <a:r>
              <a:rPr lang="fr-FR" dirty="0"/>
              <a:t>Formations d’origine :</a:t>
            </a:r>
          </a:p>
          <a:p>
            <a:pPr lvl="1"/>
            <a:r>
              <a:rPr lang="fr-FR" dirty="0"/>
              <a:t>Bac général - 57 %</a:t>
            </a:r>
          </a:p>
          <a:p>
            <a:pPr lvl="1"/>
            <a:r>
              <a:rPr lang="fr-FR" dirty="0"/>
              <a:t>Bac STI2D – 32 %</a:t>
            </a:r>
          </a:p>
          <a:p>
            <a:pPr lvl="1"/>
            <a:r>
              <a:rPr lang="fr-FR" dirty="0"/>
              <a:t>Bac pro et autres – 11 %</a:t>
            </a:r>
          </a:p>
          <a:p>
            <a:r>
              <a:rPr lang="fr-FR" dirty="0"/>
              <a:t>Entre 10 et 20 % de réorientation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6B938D-A947-8F9E-3CB3-B1A6CFA5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1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DB5A-BF3D-F30B-4F7B-B3416C7F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945171-CA31-E81F-F9DD-9C35AEBA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76B79E-EE47-2BCA-CBEF-6552C7345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4906"/>
            <a:ext cx="9601200" cy="4717294"/>
          </a:xfrm>
        </p:spPr>
        <p:txBody>
          <a:bodyPr>
            <a:normAutofit/>
          </a:bodyPr>
          <a:lstStyle/>
          <a:p>
            <a:r>
              <a:rPr lang="fr-FR" dirty="0"/>
              <a:t>Objectif : Former des professionnels capables de :</a:t>
            </a:r>
          </a:p>
          <a:p>
            <a:pPr lvl="1"/>
            <a:r>
              <a:rPr lang="fr-FR" dirty="0"/>
              <a:t>Comprendre, mettre en œuvre, configurer et maintenir des équipements et systèmes d’informations</a:t>
            </a:r>
          </a:p>
          <a:p>
            <a:pPr lvl="1"/>
            <a:r>
              <a:rPr lang="fr-FR" dirty="0"/>
              <a:t>Assurer leur sécurité physique et logicielle</a:t>
            </a:r>
          </a:p>
          <a:p>
            <a:r>
              <a:rPr lang="fr-FR" dirty="0"/>
              <a:t>Formation professionnalisante :</a:t>
            </a:r>
          </a:p>
          <a:p>
            <a:pPr lvl="1"/>
            <a:r>
              <a:rPr lang="fr-FR" dirty="0"/>
              <a:t>Possibilité de formation en alternance dès la deuxième année</a:t>
            </a:r>
          </a:p>
          <a:p>
            <a:pPr lvl="1"/>
            <a:r>
              <a:rPr lang="fr-FR" dirty="0"/>
              <a:t>Stages en 2</a:t>
            </a:r>
            <a:r>
              <a:rPr lang="fr-FR" baseline="30000" dirty="0"/>
              <a:t>ème</a:t>
            </a:r>
            <a:r>
              <a:rPr lang="fr-FR" dirty="0"/>
              <a:t> et 3</a:t>
            </a:r>
            <a:r>
              <a:rPr lang="fr-FR" baseline="30000" dirty="0"/>
              <a:t>ème</a:t>
            </a:r>
            <a:r>
              <a:rPr lang="fr-FR" dirty="0"/>
              <a:t> année </a:t>
            </a:r>
          </a:p>
          <a:p>
            <a:r>
              <a:rPr lang="fr-FR" dirty="0"/>
              <a:t>Organisée autour de 5 grandes compétences :</a:t>
            </a:r>
          </a:p>
          <a:p>
            <a:endParaRPr lang="fr-FR" dirty="0"/>
          </a:p>
          <a:p>
            <a:r>
              <a:rPr lang="fr-FR" dirty="0"/>
              <a:t>Socle commun et 5 spécialisations :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1051F6-EB0C-3394-3B7C-6DA886BE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7A3DADAA-834B-EBB5-A906-B661752D8549}"/>
              </a:ext>
            </a:extLst>
          </p:cNvPr>
          <p:cNvGraphicFramePr>
            <a:graphicFrameLocks noGrp="1"/>
          </p:cNvGraphicFramePr>
          <p:nvPr/>
        </p:nvGraphicFramePr>
        <p:xfrm>
          <a:off x="2304549" y="4594619"/>
          <a:ext cx="812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506262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8794717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7571627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4885951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6267013"/>
                    </a:ext>
                  </a:extLst>
                </a:gridCol>
              </a:tblGrid>
              <a:tr h="24109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Administrer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Connecter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Programmer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Orchestrer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Développer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467210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15595447-CD84-0569-B9D4-84E099698994}"/>
              </a:ext>
            </a:extLst>
          </p:cNvPr>
          <p:cNvGraphicFramePr>
            <a:graphicFrameLocks noGrp="1"/>
          </p:cNvGraphicFramePr>
          <p:nvPr/>
        </p:nvGraphicFramePr>
        <p:xfrm>
          <a:off x="1739900" y="5446975"/>
          <a:ext cx="9398000" cy="86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3412871728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45503316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19198854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3745286079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691305449"/>
                    </a:ext>
                  </a:extLst>
                </a:gridCol>
              </a:tblGrid>
              <a:tr h="236279">
                <a:tc gridSpan="5"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Socle commun en première année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446210"/>
                  </a:ext>
                </a:extLst>
              </a:tr>
              <a:tr h="56101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Cybersécurité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Développement système et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Internet des objets et mobilité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Pilotage de projets réseaux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Réseaux opérateurs et multimédia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267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44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9825-6D00-DAF9-8F24-CE9C0F9F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450CC-DA82-3AE7-1E7D-F2EDFA5F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Démarches pédagogiques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EF967B-0132-E54A-B6FE-5DB3F68A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E16BAED-1453-9320-767E-0D4CAB67B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27" y="2009002"/>
            <a:ext cx="10308161" cy="3934597"/>
          </a:xfrm>
        </p:spPr>
        <p:txBody>
          <a:bodyPr/>
          <a:lstStyle/>
          <a:p>
            <a:r>
              <a:rPr lang="fr-FR" dirty="0"/>
              <a:t>Les situations d’apprentissage et d’évaluation (</a:t>
            </a:r>
            <a:r>
              <a:rPr lang="fr-FR" b="1" dirty="0"/>
              <a:t>SAÉ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Tâches authentiques inspirées de problématiques émanant du milieu professionnel</a:t>
            </a:r>
          </a:p>
          <a:p>
            <a:pPr lvl="1"/>
            <a:r>
              <a:rPr lang="fr-FR" dirty="0"/>
              <a:t>Participe au développement de la compétence et à l’apprentissage des ressources</a:t>
            </a:r>
          </a:p>
          <a:p>
            <a:r>
              <a:rPr lang="fr-FR" dirty="0"/>
              <a:t>Le portfolio</a:t>
            </a:r>
          </a:p>
          <a:p>
            <a:pPr lvl="1"/>
            <a:r>
              <a:rPr lang="fr-FR" dirty="0"/>
              <a:t>Point de connexion entre le monde universitaire et le monde socio-économique</a:t>
            </a:r>
          </a:p>
          <a:p>
            <a:pPr lvl="1"/>
            <a:r>
              <a:rPr lang="fr-FR" dirty="0"/>
              <a:t>Preuves issues de l’ensemble de ses </a:t>
            </a:r>
            <a:r>
              <a:rPr lang="fr-FR" dirty="0" err="1"/>
              <a:t>SAÉs</a:t>
            </a:r>
            <a:endParaRPr lang="fr-FR" dirty="0"/>
          </a:p>
          <a:p>
            <a:r>
              <a:rPr lang="fr-FR" dirty="0"/>
              <a:t>Le Projet Personnel et Professionnel (PPP)</a:t>
            </a:r>
          </a:p>
          <a:p>
            <a:pPr lvl="1"/>
            <a:r>
              <a:rPr lang="fr-FR" dirty="0"/>
              <a:t>Accompagnement de l’étudiant dans la construction de son identité professionnelle</a:t>
            </a:r>
          </a:p>
          <a:p>
            <a:pPr lvl="1"/>
            <a:r>
              <a:rPr lang="fr-FR" dirty="0"/>
              <a:t>Aider l’étudiant à se définir et à se positionner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3355237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TM10001105[[fn=Cadrage]]</Template>
  <TotalTime>0</TotalTime>
  <Words>364</Words>
  <Application>Microsoft Office PowerPoint</Application>
  <PresentationFormat>Grand écran</PresentationFormat>
  <Paragraphs>81</Paragraphs>
  <Slides>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Aptos</vt:lpstr>
      <vt:lpstr>Franklin Gothic Book</vt:lpstr>
      <vt:lpstr>Cadrage</vt:lpstr>
      <vt:lpstr>Épreuve d’exploitation pédagogique d’une activité pratique relative à l’approche globale d’un système pluritechnologique</vt:lpstr>
      <vt:lpstr>Présentation PowerPoint</vt:lpstr>
      <vt:lpstr>Emploi du temps type</vt:lpstr>
      <vt:lpstr>Contexte</vt:lpstr>
      <vt:lpstr>Contexte</vt:lpstr>
      <vt:lpstr>Démarches pédagogiques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Tanguy Humbert</dc:creator>
  <cp:lastModifiedBy>Tanguy Humbert</cp:lastModifiedBy>
  <cp:revision>25</cp:revision>
  <dcterms:created xsi:type="dcterms:W3CDTF">2026-06-05T12:34:35Z</dcterms:created>
  <dcterms:modified xsi:type="dcterms:W3CDTF">2026-06-12T05:33:39Z</dcterms:modified>
</cp:coreProperties>
</file>